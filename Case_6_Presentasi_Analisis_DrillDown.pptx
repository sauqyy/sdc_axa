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DRILL-DOWN &amp; ROOT CAUSE ANALYSIS</a:t>
            </a:r>
          </a:p>
          <a:p>
            <a:pPr algn="l">
              <a:spcBef>
                <a:spcPts val="1000"/>
              </a:spcBef>
              <a:defRPr sz="2800" b="1">
                <a:solidFill>
                  <a:srgbClr val="F8FAFC"/>
                </a:solidFill>
                <a:latin typeface="Arial"/>
              </a:defRPr>
            </a:pPr>
            <a:r>
              <a:t>Menemukan Akar Masalah Kerugian Portofolio COB 4, 6, dan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Studi Kasus: Kolaborasi PT AXA Insurance Indonesia &amp; Universitas Airlangga 2026</a:t>
            </a:r>
          </a:p>
          <a:p>
            <a:pPr>
              <a:spcBef>
                <a:spcPts val="800"/>
              </a:spcBef>
              <a:defRPr sz="1400" i="1">
                <a:solidFill>
                  <a:srgbClr val="94A3B8"/>
                </a:solidFill>
                <a:latin typeface="Arial"/>
              </a:defRPr>
            </a:pPr>
            <a:r>
              <a:t>Metodologi Analisis: Drill-Down 5 Level Kombinasi Dimensi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Arial"/>
              </a:defRPr>
            </a:pPr>
            <a:r>
              <a:t>Metodologi &amp; Mitigasi Kualitas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5 Level Dimensi Drill-Down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Level 1: COB x Branch (Analisis regional makro)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Level 2: COB x Channel (Analisis keefektifan jalur distribusi)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Level 3: COB x Product (Analisis kesesuaian tarif produk)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Level 4: COB x Branch x Channel (Interaksi kanal di tiap regional)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Level 5: COB x Branch x Channel x Product (Granularitas penuh)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Mitigasi Distorsi Data (Installment Issue)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Installment Duplication:</a:t>
            </a:r>
            <a:r>
              <a:rPr>
                <a:solidFill>
                  <a:srgbClr val="F8FAFC"/>
                </a:solidFill>
              </a:rPr>
              <a:t> Satu nomor polis dapat muncul berkali-kali di dataset premium akibat pembayaran installment.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Cartesian Product Risk:</a:t>
            </a:r>
            <a:r>
              <a:rPr>
                <a:solidFill>
                  <a:srgbClr val="F8FAFC"/>
                </a:solidFill>
              </a:rPr>
              <a:t> Melakukan direct SQL merge/join berdasarkan POLICY_NO antara tabel Claim dan Premium akan melipatgandakan nilai klaim secara keliru.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Solusi Independen:</a:t>
            </a:r>
            <a:r>
              <a:rPr>
                <a:solidFill>
                  <a:srgbClr val="F8FAFC"/>
                </a:solidFill>
              </a:rPr>
              <a:t> Agregasi klaim dan premi dilakukan secara terpisah (independen) pada dimensi analisis, kemudian baru digabungkan.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Pemetaan Produk:</a:t>
            </a:r>
            <a:r>
              <a:rPr>
                <a:solidFill>
                  <a:srgbClr val="F8FAFC"/>
                </a:solidFill>
              </a:rPr>
              <a:t> PRODUCT_NAME dipetakan dari sheet Premium ke sheet Claim menggunakan dictionary mapping berbasis POLICY_NO yang unik.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Arial"/>
              </a:defRPr>
            </a:pPr>
            <a:r>
              <a:t>Akar Masalah Kerugian pada COB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4754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Profil Makro COB 4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GWP: </a:t>
            </a:r>
            <a:r>
              <a:rPr b="1">
                <a:solidFill>
                  <a:srgbClr val="F8FAFC"/>
                </a:solidFill>
              </a:rPr>
              <a:t>IDR 319.21 Miliar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Gross Claims: </a:t>
            </a:r>
            <a:r>
              <a:rPr b="1">
                <a:solidFill>
                  <a:srgbClr val="F8FAFC"/>
                </a:solidFill>
              </a:rPr>
              <a:t>IDR 291.35 Miliar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Loss Ratio: </a:t>
            </a:r>
            <a:r>
              <a:rPr b="1">
                <a:solidFill>
                  <a:srgbClr val="F43F5E"/>
                </a:solidFill>
              </a:rPr>
              <a:t>91.27%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Exposure: </a:t>
            </a:r>
            <a:r>
              <a:rPr b="1">
                <a:solidFill>
                  <a:srgbClr val="F8FAFC"/>
                </a:solidFill>
              </a:rPr>
              <a:t>IDR 555.92 Triliun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Claim Count: </a:t>
            </a:r>
            <a:r>
              <a:rPr b="1">
                <a:solidFill>
                  <a:srgbClr val="F8FAFC"/>
                </a:solidFill>
              </a:rPr>
              <a:t>1,289 Klaim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Claim Severity: </a:t>
            </a:r>
            <a:r>
              <a:rPr b="1">
                <a:solidFill>
                  <a:srgbClr val="F8FAFC"/>
                </a:solidFill>
              </a:rPr>
              <a:t>IDR 226.03 Juta</a:t>
            </a:r>
          </a:p>
          <a:p>
            <a:pPr>
              <a:spcBef>
                <a:spcPts val="1500"/>
              </a:spcBef>
              <a:defRPr sz="1400" b="1">
                <a:solidFill>
                  <a:srgbClr val="F43F5E"/>
                </a:solidFill>
                <a:latin typeface="Arial"/>
              </a:defRPr>
            </a:pPr>
            <a:r>
              <a:t>Kategori Risiko: CRITICAL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371600"/>
            <a:ext cx="7589520" cy="2240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0" y="1463040"/>
            <a:ext cx="72237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Akar Masalah Utama: Branch K x Channel C x Product0311</a:t>
            </a:r>
          </a:p>
          <a:p>
            <a:pPr>
              <a:spcBef>
                <a:spcPts val="2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Segmen tunggal ini memakan premi sebesar IDR 197.50 Miliar tetapi menghasilkan klaim sebesar IDR 240.04 Miliar.</a:t>
            </a:r>
            <a:br/>
            <a:r>
              <a:t>• Loss Ratio segmen ini mencapai 121.54% dengan frekuensi klaim sebanyak 1,108 klaim.</a:t>
            </a:r>
            <a:br/>
            <a:r>
              <a:t>• Segmen ini menyumbang 82.38% dari total klaim COB 4 dan 19.38% dari seluruh klaim portofolio perusahaan.</a:t>
            </a:r>
            <a:br/>
            <a:r>
              <a:t>• Masalah: Tarif premi (pricing) yang sangat tidak memadai untuk profil risiko di kanal C cabang 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3886200"/>
            <a:ext cx="7589520" cy="2240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3977639"/>
            <a:ext cx="72237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Akar Masalah Sekunder: Branch J x Channel A x Product0311</a:t>
            </a:r>
          </a:p>
          <a:p>
            <a:pPr>
              <a:spcBef>
                <a:spcPts val="2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Segmen ini menulis premi IDR 28.48 Miliar dengan total klaim kotor sebesar IDR 29.41 Miliar.</a:t>
            </a:r>
            <a:br/>
            <a:r>
              <a:t>• Loss Ratio segmen ini mencapai 103.26% dengan hanya 49 klaim.</a:t>
            </a:r>
            <a:br/>
            <a:r>
              <a:t>• Karakteristik Kritis: Nilai keparahan klaim (Claim Severity) yang sangat ekstrem, mencapai IDR 600.22 Juta per klaim (hampir 3 kali lipat rata-rata nasional COB 4).</a:t>
            </a:r>
            <a:br/>
            <a:r>
              <a:t>• Masalah: Kegagalan proses seleksi risiko (underwriting) pada aset bernilai tinggi di cabang J.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Arial"/>
              </a:defRPr>
            </a:pPr>
            <a:r>
              <a:t>Akar Masalah Kerugian pada COB 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4754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Profil Makro COB 6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GWP: </a:t>
            </a:r>
            <a:r>
              <a:rPr b="1">
                <a:solidFill>
                  <a:srgbClr val="F8FAFC"/>
                </a:solidFill>
              </a:rPr>
              <a:t>IDR 420.66 Miliar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Gross Claims: </a:t>
            </a:r>
            <a:r>
              <a:rPr b="1">
                <a:solidFill>
                  <a:srgbClr val="F8FAFC"/>
                </a:solidFill>
              </a:rPr>
              <a:t>IDR 384.07 Miliar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Loss Ratio: </a:t>
            </a:r>
            <a:r>
              <a:rPr b="1">
                <a:solidFill>
                  <a:srgbClr val="F43F5E"/>
                </a:solidFill>
              </a:rPr>
              <a:t>91.30%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Exposure: </a:t>
            </a:r>
            <a:r>
              <a:rPr b="1">
                <a:solidFill>
                  <a:srgbClr val="F8FAFC"/>
                </a:solidFill>
              </a:rPr>
              <a:t>IDR 1,354.78 Triliun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Claim Count: </a:t>
            </a:r>
            <a:r>
              <a:rPr b="1">
                <a:solidFill>
                  <a:srgbClr val="F8FAFC"/>
                </a:solidFill>
              </a:rPr>
              <a:t>1,476 Klaim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Claim Severity: </a:t>
            </a:r>
            <a:r>
              <a:rPr b="1">
                <a:solidFill>
                  <a:srgbClr val="F8FAFC"/>
                </a:solidFill>
              </a:rPr>
              <a:t>IDR 260.21 Juta</a:t>
            </a:r>
          </a:p>
          <a:p>
            <a:pPr>
              <a:spcBef>
                <a:spcPts val="1500"/>
              </a:spcBef>
              <a:defRPr sz="1400" b="1">
                <a:solidFill>
                  <a:srgbClr val="F43F5E"/>
                </a:solidFill>
                <a:latin typeface="Arial"/>
              </a:defRPr>
            </a:pPr>
            <a:r>
              <a:t>Kategori Risiko: CRITICAL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371600"/>
            <a:ext cx="7589520" cy="2240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0" y="1463040"/>
            <a:ext cx="72237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Akar Masalah Utama: Branch K x Channel B x Product1217</a:t>
            </a:r>
          </a:p>
          <a:p>
            <a:pPr>
              <a:spcBef>
                <a:spcPts val="2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Segmen ini menulis premi yang sangat kecil sebesar IDR 1.74 Miliar, tetapi menghasilkan klaim yang luar biasa besar: IDR 366.46 Miliar.</a:t>
            </a:r>
            <a:br/>
            <a:r>
              <a:t>• Loss Ratio segmen ini mencapai angka fantastis: 21,083.37% dengan 437 klaim.</a:t>
            </a:r>
            <a:br/>
            <a:r>
              <a:t>• Segmen tunggal ini menyumbang 95.42% dari total klaim COB 6 dan 29.58% dari seluruh klaim portofolio korporasi.</a:t>
            </a:r>
            <a:br/>
            <a:r>
              <a:t>• Masalah: Underpricing ekstrem yang terisolasi. Tarif premi sangat tidak memadai dibandingkan akumulasi eksposur (IDR 173.67 Miliar) yang dihadapi.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3886200"/>
            <a:ext cx="7589520" cy="2240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3977639"/>
            <a:ext cx="72237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Korelasi Frekuensi &amp; Tingkat Keparahan Klaim (Severity)</a:t>
            </a:r>
          </a:p>
          <a:p>
            <a:pPr>
              <a:spcBef>
                <a:spcPts val="2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BRANCH J × CHANNEL D × PRODUCT1270: Menghasilkan klaim kotor IDR 7.67 Miliar dengan hanya 6 klaim (Loss Ratio 573.72%). Rata-rata klaim (Severity) mencapai IDR 1.28 Miliar per klaim.</a:t>
            </a:r>
            <a:br/>
            <a:r>
              <a:t>• BRANCH K × CHANNEL B × PRODUCT1221: Menghasilkan klaim kotor IDR 6.86 Miliar dengan 971 klaim (Loss Ratio 2,614.37%). Keparahan klaimnya rendah (IDR 7.07 Juta per klaim) tetapi frekuensinya sangat tinggi.</a:t>
            </a:r>
            <a:br/>
            <a:r>
              <a:t>• Kesimpulan: COB 6 menghadapi ancaman ganda berupa klaim severity raksasa di cabang J, dan akumulasi klaim frekuensi tinggi di cabang 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Arial"/>
              </a:defRPr>
            </a:pPr>
            <a:r>
              <a:t>Akar Masalah Kerugian pada COB 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4754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Profil Makro COB 7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GWP: </a:t>
            </a:r>
            <a:r>
              <a:rPr b="1">
                <a:solidFill>
                  <a:srgbClr val="F8FAFC"/>
                </a:solidFill>
              </a:rPr>
              <a:t>IDR 342.98 Miliar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Gross Claims: </a:t>
            </a:r>
            <a:r>
              <a:rPr b="1">
                <a:solidFill>
                  <a:srgbClr val="F8FAFC"/>
                </a:solidFill>
              </a:rPr>
              <a:t>IDR 298.16 Miliar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Loss Ratio: </a:t>
            </a:r>
            <a:r>
              <a:rPr b="1">
                <a:solidFill>
                  <a:srgbClr val="F43F5E"/>
                </a:solidFill>
              </a:rPr>
              <a:t>86.93%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Exposure: </a:t>
            </a:r>
            <a:r>
              <a:rPr b="1">
                <a:solidFill>
                  <a:srgbClr val="F8FAFC"/>
                </a:solidFill>
              </a:rPr>
              <a:t>IDR 21.28 Triliun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Claim Count: </a:t>
            </a:r>
            <a:r>
              <a:rPr b="1">
                <a:solidFill>
                  <a:srgbClr val="F43F5E"/>
                </a:solidFill>
              </a:rPr>
              <a:t>13,243 Klaim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Claim Severity: </a:t>
            </a:r>
            <a:r>
              <a:rPr b="1">
                <a:solidFill>
                  <a:srgbClr val="F8FAFC"/>
                </a:solidFill>
              </a:rPr>
              <a:t>IDR 22.51 Juta</a:t>
            </a:r>
          </a:p>
          <a:p>
            <a:pPr>
              <a:spcBef>
                <a:spcPts val="1500"/>
              </a:spcBef>
              <a:defRPr sz="1400" b="1">
                <a:solidFill>
                  <a:srgbClr val="F43F5E"/>
                </a:solidFill>
                <a:latin typeface="Arial"/>
              </a:defRPr>
            </a:pPr>
            <a:r>
              <a:t>Kategori: INEFFICIENT SEGMENT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371600"/>
            <a:ext cx="7589520" cy="2240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0" y="1463040"/>
            <a:ext cx="72237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Akar Masalah Utama: Branch K x Channel B x Product0221</a:t>
            </a:r>
          </a:p>
          <a:p>
            <a:pPr>
              <a:spcBef>
                <a:spcPts val="2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Segmen ini menghasilkan premi kotor IDR 10.08 Miliar dengan total klaim kotor sebesar IDR 177.95 Miliar.</a:t>
            </a:r>
            <a:br/>
            <a:r>
              <a:t>• Loss Ratio segmen ini sangat buruk mencapai 1,764.93% dengan 956 klaim.</a:t>
            </a:r>
            <a:br/>
            <a:r>
              <a:t>• Segmen tunggal ini menyumbang 59.68% dari total klaim COB 7 dan 14.36% dari seluruh klaim portofolio AXA.</a:t>
            </a:r>
            <a:br/>
            <a:r>
              <a:t>• Analisis: Pemasaran produk PRODUCT0221 di cabang K melalui agen/broker channel B perlu dihentikan atau diubah ketentuannya.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3886200"/>
            <a:ext cx="7589520" cy="2240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3977639"/>
            <a:ext cx="72237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t>Konsentrasi Klaim Frekuensi Tinggi (High Frequency)</a:t>
            </a:r>
          </a:p>
          <a:p>
            <a:pPr>
              <a:spcBef>
                <a:spcPts val="200"/>
              </a:spcBef>
              <a:defRPr sz="1300">
                <a:solidFill>
                  <a:srgbClr val="F8FAFC"/>
                </a:solidFill>
                <a:latin typeface="Arial"/>
              </a:defRPr>
            </a:pPr>
            <a:r>
              <a:t>• COB 7 memiliki jumlah klaim tertinggi di antara semua COB (Total 13,243 klaim).</a:t>
            </a:r>
            <a:br/>
            <a:r>
              <a:t>• PRODUCT0221 adalah pemicu utama dengan total 10,945 klaim (mewakili 82.65% dari total frekuensi klaim COB 7) dengan Loss Ratio 120.51%.</a:t>
            </a:r>
            <a:br/>
            <a:r>
              <a:t>• Rata-rata keparahan klaim COB 7 relatif rendah (IDR 22.51 Juta per klaim), membuktikan bahwa masalah utama COB 7 adalah tingginya frekuensi klaim kecil yang terus berulang.</a:t>
            </a:r>
            <a:br/>
            <a:r>
              <a:t>• Strategi mitigasi: Penerapan batas risiko sendiri (deductible) yang lebih tinggi untuk menyaring klaim bernilai kecil.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Arial"/>
              </a:defRPr>
            </a:pPr>
            <a:r>
              <a:t>Perbandingan Kinerja &amp; Episentrum Kerugian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463040"/>
                <a:gridCol w="1463040"/>
                <a:gridCol w="1097280"/>
                <a:gridCol w="1463040"/>
                <a:gridCol w="3322015"/>
                <a:gridCol w="1371600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GWP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Gross Claims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Loss Ratio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Exposure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Worst Segment (Branch x Channel x Product)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Seg. LR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COB 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IDR 319.21 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IDR 291.35 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43F5E"/>
                          </a:solidFill>
                          <a:latin typeface="Arial"/>
                        </a:defRPr>
                      </a:pPr>
                      <a:r>
                        <a:t>91.27%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IDR 555.92 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BRANCH K x CHANNEL C x PRODUCT0311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43F5E"/>
                          </a:solidFill>
                          <a:latin typeface="Arial"/>
                        </a:defRPr>
                      </a:pPr>
                      <a:r>
                        <a:t>121.54%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COB 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IDR 420.66 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IDR 384.07 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43F5E"/>
                          </a:solidFill>
                          <a:latin typeface="Arial"/>
                        </a:defRPr>
                      </a:pPr>
                      <a:r>
                        <a:t>91.30%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IDR 1,354.78 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BRANCH K x CHANNEL B x PRODUCT1217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43F5E"/>
                          </a:solidFill>
                          <a:latin typeface="Arial"/>
                        </a:defRPr>
                      </a:pPr>
                      <a:r>
                        <a:t>21,083%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COB 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IDR 342.98 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IDR 298.16 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43F5E"/>
                          </a:solidFill>
                          <a:latin typeface="Arial"/>
                        </a:defRPr>
                      </a:pPr>
                      <a:r>
                        <a:t>86.93%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IDR 21.28 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BRANCH K x CHANNEL B x PRODUCT0221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43F5E"/>
                          </a:solidFill>
                          <a:latin typeface="Arial"/>
                        </a:defRPr>
                      </a:pPr>
                      <a:r>
                        <a:t>1,764.9%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Arial"/>
              </a:defRPr>
            </a:pPr>
            <a:r>
              <a:t>Rekomendasi Strategis Manajemen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Tindakan Underwriting &amp; Pricing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Penyesuaian Tarif Premi (Pricing Adjustment):</a:t>
            </a:r>
            <a:r>
              <a:rPr>
                <a:solidFill>
                  <a:srgbClr val="F8FAFC"/>
                </a:solidFill>
              </a:rPr>
              <a:t> Tingkatkan premi untuk PRODUCT0311, PRODUCT1217, dan PRODUCT0221 segera, khususnya untuk penjualan di wilayah BRANCH K.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Audit Seleksi Risiko di BRANCH J:</a:t>
            </a:r>
            <a:r>
              <a:rPr>
                <a:solidFill>
                  <a:srgbClr val="F8FAFC"/>
                </a:solidFill>
              </a:rPr>
              <a:t> Selidiki tingginya nilai keparahan klaim (Claim Severity) yang mencapai IDR 600 Juta - 1.2 Miliar per klaim guna menghindari kegagalan deteksi risiko aset bernilai tinggi.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Deductible Policy (Batas Risiko Sendiri):</a:t>
            </a:r>
            <a:r>
              <a:rPr>
                <a:solidFill>
                  <a:srgbClr val="F8FAFC"/>
                </a:solidFill>
              </a:rPr>
              <a:t> Terapkan ketentuan deductible yang lebih tinggi pada COB 7 untuk membatasi frekuensi klaim kecil yang berulang secara masif.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Manajemen Kanal &amp; Reasuransi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Evaluasi Kerja Sama Agen (Channel B &amp; C):</a:t>
            </a:r>
            <a:r>
              <a:rPr>
                <a:solidFill>
                  <a:srgbClr val="F8FAFC"/>
                </a:solidFill>
              </a:rPr>
              <a:t> Evaluasi agen penjualan pada CHANNEL B dan CHANNEL C di BRANCH K karena terus menyumbangkan klaim di atas premi yang diterima (Loss Ratio &gt; 100%).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Optimasi Proteksi Reasuransi:</a:t>
            </a:r>
            <a:r>
              <a:rPr>
                <a:solidFill>
                  <a:srgbClr val="F8FAFC"/>
                </a:solidFill>
              </a:rPr>
              <a:t> Tinjau kembali batas retensi sendiri (self-retention limit) perusahaan.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</a:t>
            </a:r>
            <a:r>
              <a:rPr b="1">
                <a:solidFill>
                  <a:srgbClr val="38BDF8"/>
                </a:solidFill>
              </a:rPr>
              <a:t>Struktur Treaty Baru:</a:t>
            </a:r>
            <a:r>
              <a:rPr>
                <a:solidFill>
                  <a:srgbClr val="F8FAFC"/>
                </a:solidFill>
              </a:rPr>
              <a:t> Tingginya kenaikan Net Loss Ratio (58.54% vs Gross 49.34%) mengindikasikan struktur treaty saat ini kurang efisien bagi perusahaan (claim under-recovery). Negosiasikan kembali persentase komisi dan recovery klaim.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