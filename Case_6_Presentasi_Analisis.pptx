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4000" b="1">
                <a:solidFill>
                  <a:srgbClr val="00D4B2"/>
                </a:solidFill>
                <a:latin typeface="Arial"/>
              </a:defRPr>
            </a:pPr>
            <a:r>
              <a:t>Case 6 — Analisis Drill Down &amp; Risk Profile Mapping</a:t>
            </a:r>
          </a:p>
          <a:p>
            <a:pPr algn="l">
              <a:spcAft>
                <a:spcPts val="40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Studi Kasus Kolaborasi Actuarial PT AXA Insurance Indonesia &amp; Universitas Airlangga 2026</a:t>
            </a:r>
          </a:p>
          <a:p>
            <a:pPr algn="l">
              <a:defRPr sz="1400">
                <a:solidFill>
                  <a:srgbClr val="00D4B2"/>
                </a:solidFill>
                <a:latin typeface="Arial"/>
              </a:defRPr>
            </a:pPr>
            <a:r>
              <a:t>Hasil Analisis Portofolio Premi &amp; Klaim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A2540"/>
                </a:solidFill>
                <a:latin typeface="Arial"/>
              </a:defRPr>
            </a:pPr>
            <a:r>
              <a:t>Kinerja Portofolio Makro &amp; Dampak Reasuransi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Metrik Keuangan Portofolio (Agregat)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Gross Written Premium (GWP): </a:t>
            </a:r>
            <a:r>
              <a:rPr sz="1500">
                <a:solidFill>
                  <a:srgbClr val="2C3E50"/>
                </a:solidFill>
                <a:latin typeface="Arial"/>
              </a:rPr>
              <a:t>IDR 2.51 Triliun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Net Written Premium (NWP): </a:t>
            </a:r>
            <a:r>
              <a:rPr sz="1500">
                <a:solidFill>
                  <a:srgbClr val="2C3E50"/>
                </a:solidFill>
                <a:latin typeface="Arial"/>
              </a:rPr>
              <a:t>IDR 1.96 Triliun (Cede 21.72% ke reasuradur)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Gross Incurred Claims: </a:t>
            </a:r>
            <a:r>
              <a:rPr sz="1500">
                <a:solidFill>
                  <a:srgbClr val="2C3E50"/>
                </a:solidFill>
                <a:latin typeface="Arial"/>
              </a:rPr>
              <a:t>IDR 1.24 Triliun (Paid + Outstanding)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Gross Loss Ratio: </a:t>
            </a:r>
            <a:r>
              <a:rPr sz="1500">
                <a:solidFill>
                  <a:srgbClr val="2C3E50"/>
                </a:solidFill>
                <a:latin typeface="Arial"/>
              </a:rPr>
              <a:t/>
            </a:r>
            <a:r>
              <a:rPr sz="1500" b="1">
                <a:solidFill>
                  <a:srgbClr val="2ECC71"/>
                </a:solidFill>
                <a:latin typeface="Arial"/>
              </a:rPr>
              <a:t>49.34%</a:t>
            </a:r>
            <a:r>
              <a:rPr sz="1500">
                <a:solidFill>
                  <a:srgbClr val="2C3E50"/>
                </a:solidFill>
                <a:latin typeface="Arial"/>
              </a:rPr>
              <a:t> (Indikator portofolio sangat sehat)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Net Loss Ratio: </a:t>
            </a:r>
            <a:r>
              <a:rPr sz="1500">
                <a:solidFill>
                  <a:srgbClr val="2C3E50"/>
                </a:solidFill>
                <a:latin typeface="Arial"/>
              </a:rPr>
              <a:t/>
            </a:r>
            <a:r>
              <a:rPr sz="1500" b="1">
                <a:solidFill>
                  <a:srgbClr val="E74C3C"/>
                </a:solidFill>
                <a:latin typeface="Arial"/>
              </a:rPr>
              <a:t>58.54%</a:t>
            </a:r>
            <a:r>
              <a:rPr sz="1500">
                <a:solidFill>
                  <a:srgbClr val="2C3E50"/>
                </a:solidFill>
                <a:latin typeface="Arial"/>
              </a:rPr>
              <a:t> (Naik signifikan pasca reasuransi)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Analisis Efisiensi Reasuransi (Insight)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Ketidakseimbangan Kontribusi: </a:t>
            </a:r>
            <a:r>
              <a:rPr sz="1500">
                <a:solidFill>
                  <a:srgbClr val="2C3E50"/>
                </a:solidFill>
                <a:latin typeface="Arial"/>
              </a:rPr>
              <a:t>Perusahaan menyerahkan 21.72% dari preminya ke reasuradur (RWP), tetapi hanya memperoleh pemulihan klaim sebesar 7.20% dari reasuradur.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Dampak Profitabilitas Bersih: </a:t>
            </a:r>
            <a:r>
              <a:rPr sz="1500">
                <a:solidFill>
                  <a:srgbClr val="2C3E50"/>
                </a:solidFill>
                <a:latin typeface="Arial"/>
              </a:rPr>
              <a:t>Karena porsi klaim yang dipulihkan jauh lebih kecil dari porsi premi yang diserahkan, Loss Ratio bersih (Net) melonjak naik menjadi 58.54% (naik sebesar 9.20%).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Rekomendasi Struktur: </a:t>
            </a:r>
            <a:r>
              <a:rPr sz="1500">
                <a:solidFill>
                  <a:srgbClr val="2C3E50"/>
                </a:solidFill>
                <a:latin typeface="Arial"/>
              </a:rPr>
              <a:t>Skema reasuransi saat ini (Quota Share/Proporsional) kurang menguntungkan perusahaan. Tinjau batas retensi sendiri dan alihkan ke skema Non-Proporsional seperti Excess of Loss (XOL).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A2540"/>
                </a:solidFill>
                <a:latin typeface="Arial"/>
              </a:defRPr>
            </a:pPr>
            <a:r>
              <a:t>Step 8 — Analisis Drill Down &amp; Mitigasi Duplikasi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Mengapa Drill Down Diperlukan?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Menggali Akar Masalah: </a:t>
            </a:r>
            <a:r>
              <a:rPr sz="1500">
                <a:solidFill>
                  <a:srgbClr val="2C3E50"/>
                </a:solidFill>
                <a:latin typeface="Arial"/>
              </a:rPr>
              <a:t>Analisis makro tingkat COB sering menyembunyikan pencilan ekstrem di mana hanya satu sub-segmen kecil yang merusak kinerja keseluruhan portofolio.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5 Tingkat Kombinasi Dimensi: </a:t>
            </a:r>
            <a:r>
              <a:rPr sz="1500">
                <a:solidFill>
                  <a:srgbClr val="2C3E50"/>
                </a:solidFill>
                <a:latin typeface="Arial"/>
              </a:rPr>
              <a:t>Melakukan drill-down multi-dimensi secara bertahap:
  1. COB × Branch
  2. COB × Channel
  3. COB × Product
  4. COB × Branch × Channel
  5. COB × Branch × Channel ×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Mitigasi Distorsi Agregasi (Aktuaris)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Masalah Duplikasi Polis: </a:t>
            </a:r>
            <a:r>
              <a:rPr sz="1500">
                <a:solidFill>
                  <a:srgbClr val="2C3E50"/>
                </a:solidFill>
                <a:latin typeface="Arial"/>
              </a:rPr>
              <a:t>Satu nomor polis memiliki beberapa baris transaksi di tabel Premi (pembayaran bertahap/endorsement).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Risiko Cartesian Product: </a:t>
            </a:r>
            <a:r>
              <a:rPr sz="1500">
                <a:solidFill>
                  <a:srgbClr val="2C3E50"/>
                </a:solidFill>
                <a:latin typeface="Arial"/>
              </a:rPr>
              <a:t>Jika tabel Claims langsung di-join (merge) dengan Premi berbasis POLICY_NO, klaim akan terduplikasi berkali-kali mengikuti jumlah baris cicilan premi, merusak perhitungan klaim.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Solusi Metodologis: </a:t>
            </a:r>
            <a:r>
              <a:rPr sz="1500">
                <a:solidFill>
                  <a:srgbClr val="2C3E50"/>
                </a:solidFill>
                <a:latin typeface="Arial"/>
              </a:rPr>
              <a:t>Mengekstrak relasi unik POLICY_NO ke PRODUCT_NAME terlebih dahulu, melakukan agregasi metrik klaim and premi secara independen, kemudian menggabungkan hasil akhirnya.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A2540"/>
                </a:solidFill>
                <a:latin typeface="Arial"/>
              </a:defRPr>
            </a:pPr>
            <a:r>
              <a:t>Penemuan Akar Masalah Utama (Root Cause)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1. Penyebab Utama Kerugian: COB 6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Segmen Kritis: </a:t>
            </a:r>
            <a:r>
              <a:rPr sz="1500">
                <a:solidFill>
                  <a:srgbClr val="2C3E50"/>
                </a:solidFill>
                <a:latin typeface="Arial"/>
              </a:rPr>
              <a:t>COB 6 × BRANCH K × CHANNEL B × </a:t>
            </a:r>
            <a:r>
              <a:rPr sz="1500" b="1">
                <a:solidFill>
                  <a:srgbClr val="E74C3C"/>
                </a:solidFill>
                <a:latin typeface="Arial"/>
              </a:rPr>
              <a:t>PRODUCT1217</a:t>
            </a:r>
            <a:r>
              <a:rPr sz="1500">
                <a:solidFill>
                  <a:srgbClr val="2C3E50"/>
                </a:solidFill>
                <a:latin typeface="Arial"/>
              </a:rPr>
              <a:t/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Kinerja Premi vs Klaim: </a:t>
            </a:r>
            <a:r>
              <a:rPr sz="1500">
                <a:solidFill>
                  <a:srgbClr val="2C3E50"/>
                </a:solidFill>
                <a:latin typeface="Arial"/>
              </a:rPr>
              <a:t>Menulis premi (GWP) hanya IDR 1.74 Miliar dengan eksposur IDR 173.7 Miliar, tetapi mencatat klaim incurred fantastis sebesar IDR 366.46 Miliar (437 klaim).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Gross Loss Ratio: </a:t>
            </a:r>
            <a:r>
              <a:rPr sz="1500">
                <a:solidFill>
                  <a:srgbClr val="2C3E50"/>
                </a:solidFill>
                <a:latin typeface="Arial"/>
              </a:rPr>
              <a:t>Mencapai </a:t>
            </a:r>
            <a:r>
              <a:rPr sz="1500" b="1">
                <a:solidFill>
                  <a:srgbClr val="E74C3C"/>
                </a:solidFill>
                <a:latin typeface="Arial"/>
              </a:rPr>
              <a:t>21,083%</a:t>
            </a:r>
            <a:r>
              <a:rPr sz="1500">
                <a:solidFill>
                  <a:srgbClr val="2C3E50"/>
                </a:solidFill>
                <a:latin typeface="Arial"/>
              </a:rPr>
              <a:t> (Mengalami kerugian 210 kali lipat preminya!).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Dampak Portofolio: </a:t>
            </a:r>
            <a:r>
              <a:rPr sz="1500">
                <a:solidFill>
                  <a:srgbClr val="2C3E50"/>
                </a:solidFill>
                <a:latin typeface="Arial"/>
              </a:rPr>
              <a:t>Segmen tunggal ini menyumbang </a:t>
            </a:r>
            <a:r>
              <a:rPr sz="1500" b="1">
                <a:solidFill>
                  <a:srgbClr val="E74C3C"/>
                </a:solidFill>
                <a:latin typeface="Arial"/>
              </a:rPr>
              <a:t>29.58%</a:t>
            </a:r>
            <a:r>
              <a:rPr sz="1500">
                <a:solidFill>
                  <a:srgbClr val="2C3E50"/>
                </a:solidFill>
                <a:latin typeface="Arial"/>
              </a:rPr>
              <a:t> dari total klaim seluruh portofolio AXA Indonesia.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2. Penyebab Kedua Kerugian: COB 7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Segmen Kritis: </a:t>
            </a:r>
            <a:r>
              <a:rPr sz="1500">
                <a:solidFill>
                  <a:srgbClr val="2C3E50"/>
                </a:solidFill>
                <a:latin typeface="Arial"/>
              </a:rPr>
              <a:t>COB 7 × BRANCH K × CHANNEL B × </a:t>
            </a:r>
            <a:r>
              <a:rPr sz="1500" b="1">
                <a:solidFill>
                  <a:srgbClr val="E74C3C"/>
                </a:solidFill>
                <a:latin typeface="Arial"/>
              </a:rPr>
              <a:t>PRODUCT0221</a:t>
            </a:r>
            <a:r>
              <a:rPr sz="1500">
                <a:solidFill>
                  <a:srgbClr val="2C3E50"/>
                </a:solidFill>
                <a:latin typeface="Arial"/>
              </a:rPr>
              <a:t/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Kinerja Premi vs Klaim: </a:t>
            </a:r>
            <a:r>
              <a:rPr sz="1500">
                <a:solidFill>
                  <a:srgbClr val="2C3E50"/>
                </a:solidFill>
                <a:latin typeface="Arial"/>
              </a:rPr>
              <a:t>Menulis premi IDR 10.08 Miliar dengan eksposur IDR 570.1 Miliar, menghasilkan klaim incurred IDR 177.95 Miliar (956 klaim).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Gross Loss Ratio: </a:t>
            </a:r>
            <a:r>
              <a:rPr sz="1500">
                <a:solidFill>
                  <a:srgbClr val="2C3E50"/>
                </a:solidFill>
                <a:latin typeface="Arial"/>
              </a:rPr>
              <a:t>Sebesar </a:t>
            </a:r>
            <a:r>
              <a:rPr sz="1500" b="1">
                <a:solidFill>
                  <a:srgbClr val="E74C3C"/>
                </a:solidFill>
                <a:latin typeface="Arial"/>
              </a:rPr>
              <a:t>1,765%</a:t>
            </a:r>
            <a:r>
              <a:rPr sz="1500">
                <a:solidFill>
                  <a:srgbClr val="2C3E50"/>
                </a:solidFill>
                <a:latin typeface="Arial"/>
              </a:rPr>
              <a:t> (Mengalami kerugian 17.6 kali lipat preminya).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Dampak Portofolio: </a:t>
            </a:r>
            <a:r>
              <a:rPr sz="1500">
                <a:solidFill>
                  <a:srgbClr val="2C3E50"/>
                </a:solidFill>
                <a:latin typeface="Arial"/>
              </a:rPr>
              <a:t>Menyumbang </a:t>
            </a:r>
            <a:r>
              <a:rPr sz="1500" b="1">
                <a:solidFill>
                  <a:srgbClr val="E74C3C"/>
                </a:solidFill>
                <a:latin typeface="Arial"/>
              </a:rPr>
              <a:t>14.36%</a:t>
            </a:r>
            <a:r>
              <a:rPr sz="1500">
                <a:solidFill>
                  <a:srgbClr val="2C3E50"/>
                </a:solidFill>
                <a:latin typeface="Arial"/>
              </a:rPr>
              <a:t> dari total klaim seluruh portofolio.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Kesimpulan Kumulatif: </a:t>
            </a:r>
            <a:r>
              <a:rPr sz="1500">
                <a:solidFill>
                  <a:srgbClr val="2C3E50"/>
                </a:solidFill>
                <a:latin typeface="Arial"/>
              </a:rPr>
              <a:t>Dua segmen di atas di BRANCH K via CHANNEL B menyumbang </a:t>
            </a:r>
            <a:r>
              <a:rPr sz="1500" b="1">
                <a:solidFill>
                  <a:srgbClr val="E74C3C"/>
                </a:solidFill>
                <a:latin typeface="Arial"/>
              </a:rPr>
              <a:t>43.94%</a:t>
            </a:r>
            <a:r>
              <a:rPr sz="1500">
                <a:solidFill>
                  <a:srgbClr val="2C3E50"/>
                </a:solidFill>
                <a:latin typeface="Arial"/>
              </a:rPr>
              <a:t> dari seluruh klaim portofolio.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A2540"/>
                </a:solidFill>
                <a:latin typeface="Arial"/>
              </a:defRPr>
            </a:pPr>
            <a:r>
              <a:t>Step 9 — Pemetaan Profil Risiko Portofolio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Klasifikasi 4 Kuadran Risiko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Ambang Batas (Threshold): </a:t>
            </a:r>
            <a:r>
              <a:rPr sz="1500">
                <a:solidFill>
                  <a:srgbClr val="2C3E50"/>
                </a:solidFill>
                <a:latin typeface="Arial"/>
              </a:rPr>
              <a:t>Loss Ratio = 60.0% (Profitabilitas Underwriting), Exposure = Median (IDR 71.8 Triliun)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CRITICAL RISK (COB 6, 4, 7): </a:t>
            </a:r>
            <a:r>
              <a:rPr sz="1500">
                <a:solidFill>
                  <a:srgbClr val="2C3E50"/>
                </a:solidFill>
                <a:latin typeface="Arial"/>
              </a:rPr>
              <a:t>Eksposur besar &amp; Loss Ratio tinggi (&gt;60%). Membutuhkan restrukturisasi harga/underwriting segera.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STRATEGIC SEGMENT (COB 9): </a:t>
            </a:r>
            <a:r>
              <a:rPr sz="1500">
                <a:solidFill>
                  <a:srgbClr val="2C3E50"/>
                </a:solidFill>
                <a:latin typeface="Arial"/>
              </a:rPr>
              <a:t>Eksposur besar &amp; Loss Ratio rendah (17.14%). Penyumbang premi terbesar (GWP ~762 Miliar). Harus diekspansi.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STABLE SEGMENT (COB 1, 2, 3, 5, 8, 10): </a:t>
            </a:r>
            <a:r>
              <a:rPr sz="1500">
                <a:solidFill>
                  <a:srgbClr val="2C3E50"/>
                </a:solidFill>
                <a:latin typeface="Arial"/>
              </a:rPr>
              <a:t>Risiko rendah &amp; profitable. Memberikan stabilitas margin bagi perusahaan.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Visualisasi Peta Risiko (Bubble Chart)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Widescreen Bubble Chart: </a:t>
            </a:r>
            <a:r>
              <a:rPr sz="1500">
                <a:solidFill>
                  <a:srgbClr val="2C3E50"/>
                </a:solidFill>
                <a:latin typeface="Arial"/>
              </a:rPr>
              <a:t>Hasil plot disimpan dalam file 'risk_profile_mapping.png' dengan sumbu X skala logaritmik agar visualisasi data terlihat seimbang dan mudah dipahami.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Ukuran Bubble: </a:t>
            </a:r>
            <a:r>
              <a:rPr sz="1500">
                <a:solidFill>
                  <a:srgbClr val="2C3E50"/>
                </a:solidFill>
                <a:latin typeface="Arial"/>
              </a:rPr>
              <a:t>Merepresentasikan volume GWP, sehingga manajemen dapat melihat segmen mana yang memiliki kontribusi premi signifikan terhadap total portofolio.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Evaluasi COB 6 &amp; 4: </a:t>
            </a:r>
            <a:r>
              <a:rPr sz="1500">
                <a:solidFill>
                  <a:srgbClr val="2C3E50"/>
                </a:solidFill>
                <a:latin typeface="Arial"/>
              </a:rPr>
              <a:t>Keduanya berada jauh di kuadran Critical Risk (Loss Ratio &gt; 91%), memerlukan perhatian khusus dan restrukturisasi underwriting secara cepat.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A2540"/>
                </a:solidFill>
                <a:latin typeface="Arial"/>
              </a:defRPr>
            </a:pPr>
            <a:r>
              <a:t>Rekomendasi Underwriting &amp; Distribusi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1. Penanganan Segmen Kritis (Underwriting)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Hentikan Penjualan Sementara (Suspend): </a:t>
            </a:r>
            <a:r>
              <a:rPr sz="1500">
                <a:solidFill>
                  <a:srgbClr val="2C3E50"/>
                </a:solidFill>
                <a:latin typeface="Arial"/>
              </a:rPr>
              <a:t>Segera suspend pemasaran PRODUCT1217 (COB 6) dan PRODUCT0221 (COB 7) untuk nasabah baru di BRANCH K melalui CHANNEL B selama proses peninjauan underwriting.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Audit Klaim &amp; Underwriting: </a:t>
            </a:r>
            <a:r>
              <a:rPr sz="1500">
                <a:solidFill>
                  <a:srgbClr val="2C3E50"/>
                </a:solidFill>
                <a:latin typeface="Arial"/>
              </a:rPr>
              <a:t>Lakukan investigasi khusus terhadap tingginya klaim di BRANCH K. Identifikasi apakah disebabkan oleh fraud klaim, mispricing, atau seleksi risiko yang buruk.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Premium Loading &amp; Deductibles: </a:t>
            </a:r>
            <a:r>
              <a:rPr sz="1500">
                <a:solidFill>
                  <a:srgbClr val="2C3E50"/>
                </a:solidFill>
                <a:latin typeface="Arial"/>
              </a:rPr>
              <a:t>Bagi perpanjangan polis di BRANCH K, naikkan tarif premi (loading) dan perbesar porsi risiko sendiri yang ditanggung nasabah (deductible).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2. Penataan Saluran Distribusi (Channel)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Evaluasi Kinerja Channel B: </a:t>
            </a:r>
            <a:r>
              <a:rPr sz="1500">
                <a:solidFill>
                  <a:srgbClr val="2C3E50"/>
                </a:solidFill>
                <a:latin typeface="Arial"/>
              </a:rPr>
              <a:t>Saluran distribusi CHANNEL B mencatat total Loss Ratio keseluruhan 115.12% (tidak menguntungkan secara underwriting).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Negosiasi Struktur Komisi: </a:t>
            </a:r>
            <a:r>
              <a:rPr sz="1500">
                <a:solidFill>
                  <a:srgbClr val="2C3E50"/>
                </a:solidFill>
                <a:latin typeface="Arial"/>
              </a:rPr>
              <a:t>Tautkan komisi broker/agen di CHANNEL B dengan loss ratio portofolio yang mereka bawa (skema Profit Commission), agar perantara terdorong menyeleksi risiko nasabah dengan baik.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Pengetatan Kriteria Seleksi Risiko: </a:t>
            </a:r>
            <a:r>
              <a:rPr sz="1500">
                <a:solidFill>
                  <a:srgbClr val="2C3E50"/>
                </a:solidFill>
                <a:latin typeface="Arial"/>
              </a:rPr>
              <a:t>Terapkan kriteria seleksi risiko yang jauh lebih ketat khusus untuk polis yang diajukan melalui CHANNEL 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A2540"/>
                </a:solidFill>
                <a:latin typeface="Arial"/>
              </a:defRPr>
            </a:pPr>
            <a:r>
              <a:t>Rekomendasi Optimasi Reasuransi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1. Penataan Program Reasuransi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Ubah Skema Reasuransi: </a:t>
            </a:r>
            <a:r>
              <a:rPr sz="1500">
                <a:solidFill>
                  <a:srgbClr val="2C3E50"/>
                </a:solidFill>
                <a:latin typeface="Arial"/>
              </a:rPr>
              <a:t>Skema saat ini (Quota Share/Proporsional) kurang efektif dalam melindungi laba bersih perusahaan karena melepas terlalu banyak premi dari segmen yang sangat menguntungkan (COB 9).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Excess of Loss (XOL) Treaty: </a:t>
            </a:r>
            <a:r>
              <a:rPr sz="1500">
                <a:solidFill>
                  <a:srgbClr val="2C3E50"/>
                </a:solidFill>
                <a:latin typeface="Arial"/>
              </a:rPr>
              <a:t>Gunakan treaty non-proporsional Excess of Loss khususnya untuk membatasi dampak klaim besar di COB 6 dan COB 7, sehingga perusahaan aman dari lonjakan klaim ekstrem.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2. Optimasi Retensi Sendiri (Retention)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Naikkan Batas Retensi Sendiri: </a:t>
            </a:r>
            <a:r>
              <a:rPr sz="1500">
                <a:solidFill>
                  <a:srgbClr val="2C3E50"/>
                </a:solidFill>
                <a:latin typeface="Arial"/>
              </a:rPr>
              <a:t>Lini bisnis yang sangat profitable seperti COB 9 (Loss Ratio 17.14%) harus dipertahankan porsi preminya sebanyak mungkin di dalam perusahaan (naikkan porsi retensi sendiri).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C3E50"/>
                </a:solidFill>
                <a:latin typeface="Arial"/>
              </a:rPr>
              <a:t>• Kesimpulan Penutup: </a:t>
            </a:r>
            <a:r>
              <a:rPr sz="1500">
                <a:solidFill>
                  <a:srgbClr val="2C3E50"/>
                </a:solidFill>
                <a:latin typeface="Arial"/>
              </a:rPr>
              <a:t>Dengan kombinasi suspend produk bermasalah di BRANCH K, optimasi komisi di CHANNEL B, dan efisiensi program reasuransi, profitabilitas underwriting bersih AXA Insurance Indonesia akan meningkat secara signifikan.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