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KAMUS ISTILAH &amp; METRIK ASURANSI</a:t>
            </a:r>
          </a:p>
          <a:p>
            <a:pPr algn="l">
              <a:spcBef>
                <a:spcPts val="10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Panduan Memahami Istilah, Rumus Perhitungan, dan Analisis Portofolio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Ditujukan untuk memahami visualisasi tabel &amp; grafik analisis portofolio SDC</a:t>
            </a:r>
          </a:p>
          <a:p>
            <a:pPr>
              <a:spcBef>
                <a:spcPts val="800"/>
              </a:spcBef>
              <a:defRPr sz="1400" i="1">
                <a:solidFill>
                  <a:srgbClr val="94A3B8"/>
                </a:solidFill>
                <a:latin typeface="Arial"/>
              </a:defRPr>
            </a:pPr>
            <a:r>
              <a:t>PT AXA Insurance Indonesia × Universitas Airlangga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Metrik Hulu: Pendapatan &amp; Liabilitas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1. Gross Written Premium (GWP)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Definisi:</a:t>
            </a:r>
            <a:r>
              <a:rPr>
                <a:solidFill>
                  <a:srgbClr val="F8FAFC"/>
                </a:solidFill>
              </a:rPr>
              <a:t> Total pendapatan premi kotor yang ditulis/diterima oleh perusahaan asuransi dari nasabah sebelum dikurangi premi reasuransi.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Rumus Perhitungan:</a:t>
            </a:r>
            <a:r>
              <a:rPr b="1">
                <a:solidFill>
                  <a:srgbClr val="22C55E"/>
                </a:solidFill>
              </a:rPr>
              <a:t>
GWP = Jumlah Premi Kotor dari Seluruh Polis yang Terbit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Interpretasi Bisnis:</a:t>
            </a:r>
            <a:r>
              <a:rPr>
                <a:solidFill>
                  <a:srgbClr val="F8FAFC"/>
                </a:solidFill>
              </a:rPr>
              <a:t>
Merepresentasikan volume penjualan/ukuran bisnis asuransi. GWP yang besar menunjukkan pangsa pasar yang dominan, namun belum menjamin profitabilitas.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2. Exposure / Sum Insured (Nilai Uang Pertanggungan)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Definisi:</a:t>
            </a:r>
            <a:r>
              <a:rPr>
                <a:solidFill>
                  <a:srgbClr val="F8FAFC"/>
                </a:solidFill>
              </a:rPr>
              <a:t> Total nilai pertanggungan atau liabilitas finansial maksimum yang ditanggung perusahaan apabila terjadi risiko/klaim total.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Rumus Perhitungan:</a:t>
            </a:r>
            <a:r>
              <a:rPr b="1">
                <a:solidFill>
                  <a:srgbClr val="22C55E"/>
                </a:solidFill>
              </a:rPr>
              <a:t>
Exposure = Jumlah Uang Pertanggungan dari Seluruh Polis Aktif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Interpretasi Bisnis:</a:t>
            </a:r>
            <a:r>
              <a:rPr>
                <a:solidFill>
                  <a:srgbClr val="F8FAFC"/>
                </a:solidFill>
              </a:rPr>
              <a:t>
Merepresentasikan total risiko potensial yang dihadapi perusahaan. Digunakan untuk membatasi risiko melalui mekanisme reasuransi agar tidak melebihi kapasitas finansial.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Metrik Klaim: Frekuensi &amp; Beban Nyata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3. Gross Incurred Claims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Definisi:</a:t>
            </a:r>
            <a:r>
              <a:rPr>
                <a:solidFill>
                  <a:srgbClr val="F8FAFC"/>
                </a:solidFill>
              </a:rPr>
              <a:t> Total estimasi beban klaim kotor yang menjadi tanggung jawab perusahaan asuransi dalam periode tertentu, baik yang sudah dibayar maupun masih berupa cadangan.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Rumus Perhitungan:</a:t>
            </a:r>
            <a:r>
              <a:rPr b="1">
                <a:solidFill>
                  <a:srgbClr val="22C55E"/>
                </a:solidFill>
              </a:rPr>
              <a:t>
Gross Incurred Claims = Gross Paid Claims + Gross Outstanding Claims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Komponen:</a:t>
            </a:r>
            <a:r>
              <a:rPr>
                <a:solidFill>
                  <a:srgbClr val="F8FAFC"/>
                </a:solidFill>
              </a:rPr>
              <a:t>
1. Paid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4. Claim Count (Frekuensi Klaim)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Definisi:</a:t>
            </a:r>
            <a:r>
              <a:rPr>
                <a:solidFill>
                  <a:srgbClr val="F8FAFC"/>
                </a:solidFill>
              </a:rPr>
              <a:t> Jumlah total laporan kejadian/klaim yang diajukan oleh nasabah selama periode waktu analisis.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Rumus Perhitungan:</a:t>
            </a:r>
            <a:r>
              <a:rPr b="1">
                <a:solidFill>
                  <a:srgbClr val="22C55E"/>
                </a:solidFill>
              </a:rPr>
              <a:t>
Claim Count = Jumlah Baris Klaim Unik (CLM_REF)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Interpretasi Bisnis:</a:t>
            </a:r>
            <a:r>
              <a:rPr>
                <a:solidFill>
                  <a:srgbClr val="F8FAFC"/>
                </a:solidFill>
              </a:rPr>
              <a:t>
Mengukur frekuensi terjadinya klaim. Jumlah klaim yang tinggi menunjukkan tingginya probabilitas risiko produk (menuntut evaluasi proses seleksi underwriting).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Metrik Sintetis: Profitabilitas &amp; Keparahan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5. Loss Ratio (Rasio Klaim)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Definisi:</a:t>
            </a:r>
            <a:r>
              <a:rPr>
                <a:solidFill>
                  <a:srgbClr val="F8FAFC"/>
                </a:solidFill>
              </a:rPr>
              <a:t> Rasio perbandingan antara biaya klaim yang dialami perusahaan dengan premi yang dikumpulkan. Mengukur profitabilitas underwriting.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Rumus Perhitungan:</a:t>
            </a:r>
            <a:r>
              <a:rPr b="1">
                <a:solidFill>
                  <a:srgbClr val="22C55E"/>
                </a:solidFill>
              </a:rPr>
              <a:t>
Loss Ratio = (Gross Incurred Claims / GWP) * 100%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Interpretasi Bisnis:</a:t>
            </a:r>
            <a:r>
              <a:rPr>
                <a:solidFill>
                  <a:srgbClr val="F8FAFC"/>
                </a:solidFill>
              </a:rPr>
              <a:t>
1. &lt; 60%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6. Claim Severity (Keparahan Klaim)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Definisi:</a:t>
            </a:r>
            <a:r>
              <a:rPr>
                <a:solidFill>
                  <a:srgbClr val="F8FAFC"/>
                </a:solidFill>
              </a:rPr>
              <a:t> Rata-rata nominal klaim yang harus dibayarkan per satu kejadian klaim yang dilaporkan.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Rumus Perhitungan:</a:t>
            </a:r>
            <a:r>
              <a:rPr b="1">
                <a:solidFill>
                  <a:srgbClr val="22C55E"/>
                </a:solidFill>
              </a:rPr>
              <a:t>
Claim Severity = Gross Incurred Claims / Claim Count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Interpretasi Bisnis:</a:t>
            </a:r>
            <a:r>
              <a:rPr>
                <a:solidFill>
                  <a:srgbClr val="F8FAFC"/>
                </a:solidFill>
              </a:rPr>
              <a:t>
Mengukur dampak kerugian per kejadian. Membantu aktuaris membedakan portofolio 'High Frequency - Low Severity' (klaim kecil tapi banyak) dengan 'Low Frequency - High Severity' (klaim jarang tapi masif/merugikan).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Dampak Reasuransi: Gross vs Net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Gross vs Net Written Premium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Reinsurance Ceded (RWP):</a:t>
            </a:r>
            <a:r>
              <a:rPr>
                <a:solidFill>
                  <a:srgbClr val="F8FAFC"/>
                </a:solidFill>
              </a:rPr>
              <a:t> Bagian dari premi kotor (GWP) yang dibayarkan ke reasuradur untuk mentransfer sebagian risiko.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Net Written Premium (NWP):</a:t>
            </a:r>
            <a:r>
              <a:rPr>
                <a:solidFill>
                  <a:srgbClr val="F8FAFC"/>
                </a:solidFill>
              </a:rPr>
              <a:t> Premi bersih yang dipertahankan perusahaan asuransi untuk menanggung risikonya sendiri.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Rumus NWP:</a:t>
            </a:r>
            <a:r>
              <a:rPr b="1">
                <a:solidFill>
                  <a:srgbClr val="22C55E"/>
                </a:solidFill>
              </a:rPr>
              <a:t>
NWP = GWP - RWP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Pentingnya:</a:t>
            </a:r>
            <a:r>
              <a:rPr>
                <a:solidFill>
                  <a:srgbClr val="F8FAFC"/>
                </a:solidFill>
              </a:rPr>
              <a:t>
Mengukur kapasitas risiko riil yang ditahan oleh neraca keuangan perusahaan sendiri setelah membagi risiko.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Gross vs Net Incurred Claims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Reinsurance Recoveries:</a:t>
            </a:r>
            <a:r>
              <a:rPr>
                <a:solidFill>
                  <a:srgbClr val="F8FAFC"/>
                </a:solidFill>
              </a:rPr>
              <a:t> Biaya klaim yang berhasil dikembalikan/pulihkan oleh perusahaan asuransi dari pihak reasuradur.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Net Incurred Claims:</a:t>
            </a:r>
            <a:r>
              <a:rPr>
                <a:solidFill>
                  <a:srgbClr val="F8FAFC"/>
                </a:solidFill>
              </a:rPr>
              <a:t> Nilai klaim bersih yang menjadi beban nyata perusahaan setelah dikurangi pengembalian dari reasuransi.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Rumus Net Claims:</a:t>
            </a:r>
            <a:r>
              <a:rPr b="1">
                <a:solidFill>
                  <a:srgbClr val="22C55E"/>
                </a:solidFill>
              </a:rPr>
              <a:t>
Net Claims = Gross Claims - Reinsurance Recoveries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Net Loss Ratio:</a:t>
            </a:r>
            <a:r>
              <a:rPr b="1">
                <a:solidFill>
                  <a:srgbClr val="22C55E"/>
                </a:solidFill>
              </a:rPr>
              <a:t>
Net Loss Ratio = (Net Claims / NWP) * 100%
Jika Net Loss Ratio lebih besar dari Gross, mengindikasikan struktur reasuransi yang kurang efisien.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Penerapan Metrik dalam Pengambilan Keputusan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1. Risk Profile Mapping (Kuadran)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Sumbu Y (Loss Ratio):</a:t>
            </a:r>
            <a:r>
              <a:rPr>
                <a:solidFill>
                  <a:srgbClr val="F8FAFC"/>
                </a:solidFill>
              </a:rPr>
              <a:t> Merepresentasikan tingkat profitabilitas/kualitas seleksi risiko.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Sumbu X (Exposure):</a:t>
            </a:r>
            <a:r>
              <a:rPr>
                <a:solidFill>
                  <a:srgbClr val="F8FAFC"/>
                </a:solidFill>
              </a:rPr>
              <a:t> Merepresentasikan tingkat potensi liabilitas finansial maksimum.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Bubble Size (GWP):</a:t>
            </a:r>
            <a:r>
              <a:rPr>
                <a:solidFill>
                  <a:srgbClr val="F8FAFC"/>
                </a:solidFill>
              </a:rPr>
              <a:t> Merepresentasikan kontribusi volume bisnis terhadap pendapatan perusahaan.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Tujuan:</a:t>
            </a:r>
            <a:r>
              <a:rPr>
                <a:solidFill>
                  <a:srgbClr val="F8FAFC"/>
                </a:solidFill>
              </a:rPr>
              <a:t> Membagi portofolio ke dalam 4 kuadran (Critical Risk, Strategic, Inefficient, Stable) agar langkah mitigasi yang diambil tepat sasaran.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2. Drill-Down Analysis (Akar Masalah)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Definisi:</a:t>
            </a:r>
            <a:r>
              <a:rPr>
                <a:solidFill>
                  <a:srgbClr val="F8FAFC"/>
                </a:solidFill>
              </a:rPr>
              <a:t> Metode menelusuri data dari level agregat tertinggi (misal seluruh portofolio asuransi) ke tingkat paling spesifik (kombinasi cabang, kanal, dan produk).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Mengapa Penting:</a:t>
            </a:r>
            <a:r>
              <a:rPr>
                <a:solidFill>
                  <a:srgbClr val="F8FAFC"/>
                </a:solidFill>
              </a:rPr>
              <a:t> Mengelompokkan portofolio ke level makro (misal COB) sering menyembunyikan kontributor kerugian yang sebenarnya.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Contoh Kasus:</a:t>
            </a:r>
            <a:r>
              <a:rPr>
                <a:solidFill>
                  <a:srgbClr val="F8FAFC"/>
                </a:solidFill>
              </a:rPr>
              <a:t> COB 6 secara makro terlihat rugi wajar (91% LR), namun lewat drill-down ditemukan satu segmen sangat ekstrim dengan Loss Ratio 21,083% (Branch K, Channel B, Product1217).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